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43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6926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43F91"/>
                </a:solidFill>
              </a:rPr>
              <a:t>EUV光刻光学规范与标准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14400"/>
            <a:ext cx="5943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66666"/>
                </a:solidFill>
              </a:rPr>
              <a:t>正式汇报版 / Formal Presentation Deck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70432"/>
            <a:ext cx="11064240" cy="54864"/>
          </a:xfrm>
          <a:prstGeom prst="rect">
            <a:avLst/>
          </a:prstGeom>
          <a:solidFill>
            <a:srgbClr val="2C7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029200" cy="3108960"/>
          </a:xfrm>
          <a:prstGeom prst="roundRect">
            <a:avLst/>
          </a:prstGeom>
          <a:solidFill>
            <a:srgbClr val="E7EFFC"/>
          </a:solidFill>
          <a:ln>
            <a:solidFill>
              <a:srgbClr val="2C7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/>
            <a:r>
              <a:rPr b="1" sz="1800">
                <a:solidFill>
                  <a:srgbClr val="143F91"/>
                </a:solidFill>
              </a:rPr>
              <a:t>汇报重点</a:t>
            </a:r>
          </a:p>
          <a:p>
            <a:pPr>
              <a:defRPr sz="1600">
                <a:solidFill>
                  <a:srgbClr val="212529"/>
                </a:solidFill>
              </a:defRPr>
            </a:pPr>
            <a:r>
              <a:t>关键词：反射率、波前误差、PSD、污染、High-NA</a:t>
            </a:r>
          </a:p>
          <a:p>
            <a:pPr>
              <a:defRPr sz="1600">
                <a:solidFill>
                  <a:srgbClr val="212529"/>
                </a:solidFill>
              </a:defRPr>
            </a:pPr>
            <a:r>
              <a:t>适用场景：技术评审、项目预研、采购沟通、验收框架设计</a:t>
            </a:r>
          </a:p>
          <a:p>
            <a:pPr>
              <a:defRPr sz="1600">
                <a:solidFill>
                  <a:srgbClr val="212529"/>
                </a:solidFill>
              </a:defRPr>
            </a:pPr>
            <a:r>
              <a:t>汇报主线：物理约束 → 规范逻辑 → 采购写法 → 验收闭环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45920"/>
            <a:ext cx="5303520" cy="3474720"/>
          </a:xfrm>
          <a:prstGeom prst="roundRect">
            <a:avLst/>
          </a:prstGeom>
          <a:solidFill>
            <a:srgbClr val="F6F8FC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b="1" sz="1800">
                <a:solidFill>
                  <a:srgbClr val="143F91"/>
                </a:solidFill>
              </a:rPr>
              <a:t>开场文案</a:t>
            </a:r>
          </a:p>
          <a:p>
            <a:pPr>
              <a:defRPr sz="1500">
                <a:solidFill>
                  <a:srgbClr val="212529"/>
                </a:solidFill>
              </a:defRPr>
            </a:pPr>
            <a:r>
              <a:t>本次汇报聚焦EUV光刻中的光学规范与标准，重点回答为什么在13.5纳米和High-NA条件下，光学规范必须从传统精密光学写法升级成围绕反射率、波前误差、PSD、污染与验收闭环来组织的系统规范。今天的结构将按照物理约束、关键指标、采购规范写法以及计量验收闭环四部分展开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0080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</a:rPr>
              <a:t>1/13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926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43F91"/>
                </a:solidFill>
              </a:rPr>
              <a:t>为什么必须研究EUV光学规范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70432"/>
            <a:ext cx="11064240" cy="54864"/>
          </a:xfrm>
          <a:prstGeom prst="rect">
            <a:avLst/>
          </a:prstGeom>
          <a:solidFill>
            <a:srgbClr val="2C7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3931920" cy="4389120"/>
          </a:xfrm>
          <a:prstGeom prst="roundRect">
            <a:avLst/>
          </a:prstGeom>
          <a:solidFill>
            <a:srgbClr val="E7EFFC"/>
          </a:solidFill>
          <a:ln>
            <a:solidFill>
              <a:srgbClr val="2C7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/>
          <a:lstStyle/>
          <a:p>
            <a:pPr algn="ctr"/>
            <a:r>
              <a:rPr b="1" sz="1800">
                <a:solidFill>
                  <a:srgbClr val="143F91"/>
                </a:solidFill>
              </a:rPr>
              <a:t>核心要点</a:t>
            </a:r>
          </a:p>
          <a:p>
            <a:pPr>
              <a:defRPr sz="1500">
                <a:solidFill>
                  <a:srgbClr val="212529"/>
                </a:solidFill>
              </a:defRPr>
            </a:pPr>
            <a:r>
              <a:t>13.5 nm下普通光学材料强吸收，透镜路线基本失效</a:t>
            </a:r>
          </a:p>
          <a:p>
            <a:pPr>
              <a:defRPr sz="1500">
                <a:solidFill>
                  <a:srgbClr val="212529"/>
                </a:solidFill>
              </a:defRPr>
            </a:pPr>
            <a:r>
              <a:t>系统必须转向多层膜反射镜</a:t>
            </a:r>
          </a:p>
          <a:p>
            <a:pPr>
              <a:defRPr sz="1500">
                <a:solidFill>
                  <a:srgbClr val="212529"/>
                </a:solidFill>
              </a:defRPr>
            </a:pPr>
            <a:r>
              <a:t>单镜反射率约70%量级，多镜串联后总通量快速衰减</a:t>
            </a:r>
          </a:p>
          <a:p>
            <a:pPr>
              <a:defRPr sz="1500">
                <a:solidFill>
                  <a:srgbClr val="212529"/>
                </a:solidFill>
              </a:defRPr>
            </a:pPr>
            <a:r>
              <a:t>High-NA进一步放大景深、掩模3D和稳定性问题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00600" y="1463040"/>
            <a:ext cx="6720840" cy="4389120"/>
          </a:xfrm>
          <a:prstGeom prst="roundRect">
            <a:avLst/>
          </a:prstGeom>
          <a:solidFill>
            <a:srgbClr val="F6F8FC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27000"/>
          <a:lstStyle/>
          <a:p>
            <a:pPr algn="ctr"/>
            <a:r>
              <a:rPr b="1" sz="1800">
                <a:solidFill>
                  <a:srgbClr val="143F91"/>
                </a:solidFill>
              </a:rPr>
              <a:t>汇报正文</a:t>
            </a:r>
          </a:p>
          <a:p>
            <a:pPr algn="l">
              <a:defRPr sz="1500">
                <a:solidFill>
                  <a:srgbClr val="212529"/>
                </a:solidFill>
              </a:defRPr>
            </a:pPr>
            <a:r>
              <a:t>EUV不是把传统光学简单做得更精，而是把问题的物理边界彻底改写了。在13.5纳米波段，大多数材料强吸收，因此系统只能依赖多层膜反射镜。问题又在于单镜反射率有限，多次反射后总通量会按乘法持续下降；同时High-NA为了提升分辨率，又会显著压缩景深并放大掩模与机械稳定性问题，所以EUV规范天然是高度耦合的系统规范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080760"/>
            <a:ext cx="8961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666"/>
                </a:solidFill>
              </a:rPr>
              <a:t>建议讲述顺序：先讲物理约束，再讲对应规范项，最后落到采购与验收。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</a:rPr>
              <a:t>2/13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926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43F91"/>
                </a:solidFill>
              </a:rPr>
              <a:t>第一性原理：波长、NA、景深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70432"/>
            <a:ext cx="11064240" cy="54864"/>
          </a:xfrm>
          <a:prstGeom prst="rect">
            <a:avLst/>
          </a:prstGeom>
          <a:solidFill>
            <a:srgbClr val="2C7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3931920" cy="4389120"/>
          </a:xfrm>
          <a:prstGeom prst="roundRect">
            <a:avLst/>
          </a:prstGeom>
          <a:solidFill>
            <a:srgbClr val="E7EFFC"/>
          </a:solidFill>
          <a:ln>
            <a:solidFill>
              <a:srgbClr val="2C7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/>
          <a:lstStyle/>
          <a:p>
            <a:pPr algn="ctr"/>
            <a:r>
              <a:rPr b="1" sz="1800">
                <a:solidFill>
                  <a:srgbClr val="143F91"/>
                </a:solidFill>
              </a:rPr>
              <a:t>核心要点</a:t>
            </a:r>
          </a:p>
          <a:p>
            <a:pPr>
              <a:defRPr sz="1500">
                <a:solidFill>
                  <a:srgbClr val="212529"/>
                </a:solidFill>
              </a:defRPr>
            </a:pPr>
            <a:r>
              <a:t>分辨率：R ≈ k1·λ/NA</a:t>
            </a:r>
          </a:p>
          <a:p>
            <a:pPr>
              <a:defRPr sz="1500">
                <a:solidFill>
                  <a:srgbClr val="212529"/>
                </a:solidFill>
              </a:defRPr>
            </a:pPr>
            <a:r>
              <a:t>景深：DOF ≈ k2·λ/NA²</a:t>
            </a:r>
          </a:p>
          <a:p>
            <a:pPr>
              <a:defRPr sz="1500">
                <a:solidFill>
                  <a:srgbClr val="212529"/>
                </a:solidFill>
              </a:defRPr>
            </a:pPr>
            <a:r>
              <a:t>λ已固定在13.5 nm附近，后续主要依赖更高NA</a:t>
            </a:r>
          </a:p>
          <a:p>
            <a:pPr>
              <a:defRPr sz="1500">
                <a:solidFill>
                  <a:srgbClr val="212529"/>
                </a:solidFill>
              </a:defRPr>
            </a:pPr>
            <a:r>
              <a:t>NA提高带来分辨率收益，也同步压缩工艺与机械容忍度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00600" y="1463040"/>
            <a:ext cx="6720840" cy="4389120"/>
          </a:xfrm>
          <a:prstGeom prst="roundRect">
            <a:avLst/>
          </a:prstGeom>
          <a:solidFill>
            <a:srgbClr val="F6F8FC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27000"/>
          <a:lstStyle/>
          <a:p>
            <a:pPr algn="ctr"/>
            <a:r>
              <a:rPr b="1" sz="1800">
                <a:solidFill>
                  <a:srgbClr val="143F91"/>
                </a:solidFill>
              </a:rPr>
              <a:t>汇报正文</a:t>
            </a:r>
          </a:p>
          <a:p>
            <a:pPr algn="l">
              <a:defRPr sz="1500">
                <a:solidFill>
                  <a:srgbClr val="212529"/>
                </a:solidFill>
              </a:defRPr>
            </a:pPr>
            <a:r>
              <a:t>这两条公式决定了EUV规范的底层逻辑。分辨率受波长和NA共同影响，而景深与NA平方成反比。当波长已经固定在13.5纳米附近后，继续提升分辨率主要依赖更高NA；但NA升高的代价是景深快速缩小，因此晶圆平坦度、对焦控制、平台稳定性和掩模误差预算都必须同步加严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080760"/>
            <a:ext cx="8961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666"/>
                </a:solidFill>
              </a:rPr>
              <a:t>建议讲述顺序：先讲物理约束，再讲对应规范项，最后落到采购与验收。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</a:rPr>
              <a:t>3/13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926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43F91"/>
                </a:solidFill>
              </a:rPr>
              <a:t>多镜通量瓶颈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70432"/>
            <a:ext cx="11064240" cy="54864"/>
          </a:xfrm>
          <a:prstGeom prst="rect">
            <a:avLst/>
          </a:prstGeom>
          <a:solidFill>
            <a:srgbClr val="2C7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3931920" cy="4389120"/>
          </a:xfrm>
          <a:prstGeom prst="roundRect">
            <a:avLst/>
          </a:prstGeom>
          <a:solidFill>
            <a:srgbClr val="E7EFFC"/>
          </a:solidFill>
          <a:ln>
            <a:solidFill>
              <a:srgbClr val="2C7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/>
          <a:lstStyle/>
          <a:p>
            <a:pPr algn="ctr"/>
            <a:r>
              <a:rPr b="1" sz="1800">
                <a:solidFill>
                  <a:srgbClr val="143F91"/>
                </a:solidFill>
              </a:rPr>
              <a:t>核心要点</a:t>
            </a:r>
          </a:p>
          <a:p>
            <a:pPr>
              <a:defRPr sz="1500">
                <a:solidFill>
                  <a:srgbClr val="212529"/>
                </a:solidFill>
              </a:defRPr>
            </a:pPr>
            <a:r>
              <a:t>总通量近似：T_total ≈ R^N</a:t>
            </a:r>
          </a:p>
          <a:p>
            <a:pPr>
              <a:defRPr sz="1500">
                <a:solidFill>
                  <a:srgbClr val="212529"/>
                </a:solidFill>
              </a:defRPr>
            </a:pPr>
            <a:r>
              <a:t>单镜反射率的微小下降会被多镜链路指数放大</a:t>
            </a:r>
          </a:p>
          <a:p>
            <a:pPr>
              <a:defRPr sz="1500">
                <a:solidFill>
                  <a:srgbClr val="212529"/>
                </a:solidFill>
              </a:defRPr>
            </a:pPr>
            <a:r>
              <a:t>通量损失最终传导到剂量、产能、随机缺陷和成本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00600" y="1463040"/>
            <a:ext cx="6720840" cy="4389120"/>
          </a:xfrm>
          <a:prstGeom prst="roundRect">
            <a:avLst/>
          </a:prstGeom>
          <a:solidFill>
            <a:srgbClr val="F6F8FC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27000"/>
          <a:lstStyle/>
          <a:p>
            <a:pPr algn="ctr"/>
            <a:r>
              <a:rPr b="1" sz="1800">
                <a:solidFill>
                  <a:srgbClr val="143F91"/>
                </a:solidFill>
              </a:rPr>
              <a:t>汇报正文</a:t>
            </a:r>
          </a:p>
          <a:p>
            <a:pPr algn="l">
              <a:defRPr sz="1500">
                <a:solidFill>
                  <a:srgbClr val="212529"/>
                </a:solidFill>
              </a:defRPr>
            </a:pPr>
            <a:r>
              <a:t>EUV系统总通量可以近似看成各反射镜反射率的连乘。如果单镜反射率只有约70%量级，那么经过多镜链路后，系统可用能量会明显下降。因此反射率不是局部镀膜参数，而是直接关系到曝光剂量、节拍、产能和成本的系统级指标，这也是EUV规范必须高度重视膜层质量与污染控制的原因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080760"/>
            <a:ext cx="8961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666"/>
                </a:solidFill>
              </a:rPr>
              <a:t>建议讲述顺序：先讲物理约束，再讲对应规范项，最后落到采购与验收。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</a:rPr>
              <a:t>4/13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926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43F91"/>
                </a:solidFill>
              </a:rPr>
              <a:t>Mo/Si多层膜核心逻辑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70432"/>
            <a:ext cx="11064240" cy="54864"/>
          </a:xfrm>
          <a:prstGeom prst="rect">
            <a:avLst/>
          </a:prstGeom>
          <a:solidFill>
            <a:srgbClr val="2C7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3931920" cy="4389120"/>
          </a:xfrm>
          <a:prstGeom prst="roundRect">
            <a:avLst/>
          </a:prstGeom>
          <a:solidFill>
            <a:srgbClr val="E7EFFC"/>
          </a:solidFill>
          <a:ln>
            <a:solidFill>
              <a:srgbClr val="2C7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/>
          <a:lstStyle/>
          <a:p>
            <a:pPr algn="ctr"/>
            <a:r>
              <a:rPr b="1" sz="1800">
                <a:solidFill>
                  <a:srgbClr val="143F91"/>
                </a:solidFill>
              </a:rPr>
              <a:t>核心要点</a:t>
            </a:r>
          </a:p>
          <a:p>
            <a:pPr>
              <a:defRPr sz="1500">
                <a:solidFill>
                  <a:srgbClr val="212529"/>
                </a:solidFill>
              </a:defRPr>
            </a:pPr>
            <a:r>
              <a:t>布拉格条件：mλ = 2d·sinθ</a:t>
            </a:r>
          </a:p>
          <a:p>
            <a:pPr>
              <a:defRPr sz="1500">
                <a:solidFill>
                  <a:srgbClr val="212529"/>
                </a:solidFill>
              </a:defRPr>
            </a:pPr>
            <a:r>
              <a:t>Mo/Si多层膜围绕13.5 nm与目标入射角协同设计</a:t>
            </a:r>
          </a:p>
          <a:p>
            <a:pPr>
              <a:defRPr sz="1500">
                <a:solidFill>
                  <a:srgbClr val="212529"/>
                </a:solidFill>
              </a:defRPr>
            </a:pPr>
            <a:r>
              <a:t>层周期、界面扩散、粗糙度、应力和污染都会影响反射峰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00600" y="1463040"/>
            <a:ext cx="6720840" cy="4389120"/>
          </a:xfrm>
          <a:prstGeom prst="roundRect">
            <a:avLst/>
          </a:prstGeom>
          <a:solidFill>
            <a:srgbClr val="F6F8FC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27000"/>
          <a:lstStyle/>
          <a:p>
            <a:pPr algn="ctr"/>
            <a:r>
              <a:rPr b="1" sz="1800">
                <a:solidFill>
                  <a:srgbClr val="143F91"/>
                </a:solidFill>
              </a:rPr>
              <a:t>汇报正文</a:t>
            </a:r>
          </a:p>
          <a:p>
            <a:pPr algn="l">
              <a:defRPr sz="1500">
                <a:solidFill>
                  <a:srgbClr val="212529"/>
                </a:solidFill>
              </a:defRPr>
            </a:pPr>
            <a:r>
              <a:t>EUV反射镜的本质不是普通镀膜件，而是围绕目标波长与入射角精密设计的周期结构。层周期准确性、层厚比例、界面陡峭度、扩散控制和粗糙度水平都会决定反射率峰值、中心波长和带宽表现。同时，长期运行中的碳污染、锡污染和保护层退化还会持续改变反射性能，所以多层膜指标必须被纳入核心验收范围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080760"/>
            <a:ext cx="8961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666"/>
                </a:solidFill>
              </a:rPr>
              <a:t>建议讲述顺序：先讲物理约束，再讲对应规范项，最后落到采购与验收。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</a:rPr>
              <a:t>5/13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926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43F91"/>
                </a:solidFill>
              </a:rPr>
              <a:t>从面形到像差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70432"/>
            <a:ext cx="11064240" cy="54864"/>
          </a:xfrm>
          <a:prstGeom prst="rect">
            <a:avLst/>
          </a:prstGeom>
          <a:solidFill>
            <a:srgbClr val="2C7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3931920" cy="4389120"/>
          </a:xfrm>
          <a:prstGeom prst="roundRect">
            <a:avLst/>
          </a:prstGeom>
          <a:solidFill>
            <a:srgbClr val="E7EFFC"/>
          </a:solidFill>
          <a:ln>
            <a:solidFill>
              <a:srgbClr val="2C7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/>
          <a:lstStyle/>
          <a:p>
            <a:pPr algn="ctr"/>
            <a:r>
              <a:rPr b="1" sz="1800">
                <a:solidFill>
                  <a:srgbClr val="143F91"/>
                </a:solidFill>
              </a:rPr>
              <a:t>核心要点</a:t>
            </a:r>
          </a:p>
          <a:p>
            <a:pPr>
              <a:defRPr sz="1500">
                <a:solidFill>
                  <a:srgbClr val="212529"/>
                </a:solidFill>
              </a:defRPr>
            </a:pPr>
            <a:r>
              <a:t>表面误差会映射到波前误差</a:t>
            </a:r>
          </a:p>
          <a:p>
            <a:pPr>
              <a:defRPr sz="1500">
                <a:solidFill>
                  <a:srgbClr val="212529"/>
                </a:solidFill>
              </a:defRPr>
            </a:pPr>
            <a:r>
              <a:t>低频误差影响面形和像差</a:t>
            </a:r>
          </a:p>
          <a:p>
            <a:pPr>
              <a:defRPr sz="1500">
                <a:solidFill>
                  <a:srgbClr val="212529"/>
                </a:solidFill>
              </a:defRPr>
            </a:pPr>
            <a:r>
              <a:t>中频误差更容易映射为flare与对比度损失</a:t>
            </a:r>
          </a:p>
          <a:p>
            <a:pPr>
              <a:defRPr sz="1500">
                <a:solidFill>
                  <a:srgbClr val="212529"/>
                </a:solidFill>
              </a:defRPr>
            </a:pPr>
            <a:r>
              <a:t>高频粗糙度带来散射损失，需用PSD分频段管理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00600" y="1463040"/>
            <a:ext cx="6720840" cy="4389120"/>
          </a:xfrm>
          <a:prstGeom prst="roundRect">
            <a:avLst/>
          </a:prstGeom>
          <a:solidFill>
            <a:srgbClr val="F6F8FC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27000"/>
          <a:lstStyle/>
          <a:p>
            <a:pPr algn="ctr"/>
            <a:r>
              <a:rPr b="1" sz="1800">
                <a:solidFill>
                  <a:srgbClr val="143F91"/>
                </a:solidFill>
              </a:rPr>
              <a:t>汇报正文</a:t>
            </a:r>
          </a:p>
          <a:p>
            <a:pPr algn="l">
              <a:defRPr sz="1500">
                <a:solidFill>
                  <a:srgbClr val="212529"/>
                </a:solidFill>
              </a:defRPr>
            </a:pPr>
            <a:r>
              <a:t>在反射系统中，表面形貌误差会直接转化为波前误差，因此亚纳米级控制并非过度设计。不同频段的误差影响不同：低频主要表现为像差问题，中频更容易转化为flare，高频粗糙度则对应散射与反射率损失。所以EUV规范不能只写一个粗糙度均方根数值，而必须引入PSD，对不同空间频率进行分段管理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080760"/>
            <a:ext cx="8961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666"/>
                </a:solidFill>
              </a:rPr>
              <a:t>建议讲述顺序：先讲物理约束，再讲对应规范项，最后落到采购与验收。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</a:rPr>
              <a:t>6/13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926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43F91"/>
                </a:solidFill>
              </a:rPr>
              <a:t>规范总表：五大对象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70432"/>
            <a:ext cx="11064240" cy="54864"/>
          </a:xfrm>
          <a:prstGeom prst="rect">
            <a:avLst/>
          </a:prstGeom>
          <a:solidFill>
            <a:srgbClr val="2C7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3931920" cy="4389120"/>
          </a:xfrm>
          <a:prstGeom prst="roundRect">
            <a:avLst/>
          </a:prstGeom>
          <a:solidFill>
            <a:srgbClr val="E7EFFC"/>
          </a:solidFill>
          <a:ln>
            <a:solidFill>
              <a:srgbClr val="2C7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/>
          <a:lstStyle/>
          <a:p>
            <a:pPr algn="ctr"/>
            <a:r>
              <a:rPr b="1" sz="1800">
                <a:solidFill>
                  <a:srgbClr val="143F91"/>
                </a:solidFill>
              </a:rPr>
              <a:t>核心要点</a:t>
            </a:r>
          </a:p>
          <a:p>
            <a:pPr>
              <a:defRPr sz="1500">
                <a:solidFill>
                  <a:srgbClr val="212529"/>
                </a:solidFill>
              </a:defRPr>
            </a:pPr>
            <a:r>
              <a:t>系统、反射镜、膜层、掩模、环境五大类</a:t>
            </a:r>
          </a:p>
          <a:p>
            <a:pPr>
              <a:defRPr sz="1500">
                <a:solidFill>
                  <a:srgbClr val="212529"/>
                </a:solidFill>
              </a:defRPr>
            </a:pPr>
            <a:r>
              <a:t>核心指标包括：工作波长、NA、WFE、反射率、PSD、污染、可打印缺陷、flare</a:t>
            </a:r>
          </a:p>
          <a:p>
            <a:pPr>
              <a:defRPr sz="1500">
                <a:solidFill>
                  <a:srgbClr val="212529"/>
                </a:solidFill>
              </a:defRPr>
            </a:pPr>
            <a:r>
              <a:t>所有指标都必须满足“能测量、能追溯、能验收”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00600" y="1463040"/>
            <a:ext cx="6720840" cy="4389120"/>
          </a:xfrm>
          <a:prstGeom prst="roundRect">
            <a:avLst/>
          </a:prstGeom>
          <a:solidFill>
            <a:srgbClr val="F6F8FC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27000"/>
          <a:lstStyle/>
          <a:p>
            <a:pPr algn="ctr"/>
            <a:r>
              <a:rPr b="1" sz="1800">
                <a:solidFill>
                  <a:srgbClr val="143F91"/>
                </a:solidFill>
              </a:rPr>
              <a:t>汇报正文</a:t>
            </a:r>
          </a:p>
          <a:p>
            <a:pPr algn="l">
              <a:defRPr sz="1500">
                <a:solidFill>
                  <a:srgbClr val="212529"/>
                </a:solidFill>
              </a:defRPr>
            </a:pPr>
            <a:r>
              <a:t>在规范层面，EUV光学可分为系统级、镜面基底、多层膜、掩模以及环境污染五大对象。系统级关注NA、WFE和照明均匀性；镜面关注面形、斜率误差和PSD；膜层关注反射率、中心波长和均匀性；掩模关注空白缺陷与可打印风险；环境则关注颗粒、碳污染、锡污染和出气控制。所有条目都必须能够被测量、追溯并进入验收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080760"/>
            <a:ext cx="8961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666"/>
                </a:solidFill>
              </a:rPr>
              <a:t>建议讲述顺序：先讲物理约束，再讲对应规范项，最后落到采购与验收。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</a:rPr>
              <a:t>7/13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926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43F91"/>
                </a:solidFill>
              </a:rPr>
              <a:t>High-NA为什么整体加严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70432"/>
            <a:ext cx="11064240" cy="54864"/>
          </a:xfrm>
          <a:prstGeom prst="rect">
            <a:avLst/>
          </a:prstGeom>
          <a:solidFill>
            <a:srgbClr val="2C7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3931920" cy="4389120"/>
          </a:xfrm>
          <a:prstGeom prst="roundRect">
            <a:avLst/>
          </a:prstGeom>
          <a:solidFill>
            <a:srgbClr val="E7EFFC"/>
          </a:solidFill>
          <a:ln>
            <a:solidFill>
              <a:srgbClr val="2C7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/>
          <a:lstStyle/>
          <a:p>
            <a:pPr algn="ctr"/>
            <a:r>
              <a:rPr b="1" sz="1800">
                <a:solidFill>
                  <a:srgbClr val="143F91"/>
                </a:solidFill>
              </a:rPr>
              <a:t>核心要点</a:t>
            </a:r>
          </a:p>
          <a:p>
            <a:pPr>
              <a:defRPr sz="1500">
                <a:solidFill>
                  <a:srgbClr val="212529"/>
                </a:solidFill>
              </a:defRPr>
            </a:pPr>
            <a:r>
              <a:t>更高NA带来更好分辨率，也带来更小DOF</a:t>
            </a:r>
          </a:p>
          <a:p>
            <a:pPr>
              <a:defRPr sz="1500">
                <a:solidFill>
                  <a:srgbClr val="212529"/>
                </a:solidFill>
              </a:defRPr>
            </a:pPr>
            <a:r>
              <a:t>掩模3D效应、偏振与入射角敏感性显著上升</a:t>
            </a:r>
          </a:p>
          <a:p>
            <a:pPr>
              <a:defRPr sz="1500">
                <a:solidFill>
                  <a:srgbClr val="212529"/>
                </a:solidFill>
              </a:defRPr>
            </a:pPr>
            <a:r>
              <a:t>平坦度、对焦、平台稳定性和掩模控制必须同步加严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00600" y="1463040"/>
            <a:ext cx="6720840" cy="4389120"/>
          </a:xfrm>
          <a:prstGeom prst="roundRect">
            <a:avLst/>
          </a:prstGeom>
          <a:solidFill>
            <a:srgbClr val="F6F8FC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27000"/>
          <a:lstStyle/>
          <a:p>
            <a:pPr algn="ctr"/>
            <a:r>
              <a:rPr b="1" sz="1800">
                <a:solidFill>
                  <a:srgbClr val="143F91"/>
                </a:solidFill>
              </a:rPr>
              <a:t>汇报正文</a:t>
            </a:r>
          </a:p>
          <a:p>
            <a:pPr algn="l">
              <a:defRPr sz="1500">
                <a:solidFill>
                  <a:srgbClr val="212529"/>
                </a:solidFill>
              </a:defRPr>
            </a:pPr>
            <a:r>
              <a:t>High-NA不是线性升级，而是改变了误差预算的主导项。随着景深进一步收缩，晶圆平坦度、平台动态和对焦控制要求会整体抬高；同时掩模3D效应、偏振效应和多层膜相位行为都会更加敏感，中频误差与局部缺陷也更容易被打印出来。因此High-NA带来的是全链条规范重构，而不是单项指标加一个安全系数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080760"/>
            <a:ext cx="8961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666"/>
                </a:solidFill>
              </a:rPr>
              <a:t>建议讲述顺序：先讲物理约束，再讲对应规范项，最后落到采购与验收。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</a:rPr>
              <a:t>8/13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926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43F91"/>
                </a:solidFill>
              </a:rPr>
              <a:t>采购规范如何写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70432"/>
            <a:ext cx="11064240" cy="54864"/>
          </a:xfrm>
          <a:prstGeom prst="rect">
            <a:avLst/>
          </a:prstGeom>
          <a:solidFill>
            <a:srgbClr val="2C7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3931920" cy="4389120"/>
          </a:xfrm>
          <a:prstGeom prst="roundRect">
            <a:avLst/>
          </a:prstGeom>
          <a:solidFill>
            <a:srgbClr val="E7EFFC"/>
          </a:solidFill>
          <a:ln>
            <a:solidFill>
              <a:srgbClr val="2C7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/>
          <a:lstStyle/>
          <a:p>
            <a:pPr algn="ctr"/>
            <a:r>
              <a:rPr b="1" sz="1800">
                <a:solidFill>
                  <a:srgbClr val="143F91"/>
                </a:solidFill>
              </a:rPr>
              <a:t>核心要点</a:t>
            </a:r>
          </a:p>
          <a:p>
            <a:pPr>
              <a:defRPr sz="1500">
                <a:solidFill>
                  <a:srgbClr val="212529"/>
                </a:solidFill>
              </a:defRPr>
            </a:pPr>
            <a:r>
              <a:t>推荐结构：参数—定义—测试方法—判定标准—抽样规则—失效处置</a:t>
            </a:r>
          </a:p>
          <a:p>
            <a:pPr>
              <a:defRPr sz="1500">
                <a:solidFill>
                  <a:srgbClr val="212529"/>
                </a:solidFill>
              </a:defRPr>
            </a:pPr>
            <a:r>
              <a:t>每个指标都必须回答“是什么、怎么测、怎么判、出问题怎么办”</a:t>
            </a:r>
          </a:p>
          <a:p>
            <a:pPr>
              <a:defRPr sz="1500">
                <a:solidFill>
                  <a:srgbClr val="212529"/>
                </a:solidFill>
              </a:defRPr>
            </a:pPr>
            <a:r>
              <a:t>目标是让规范从技术说明升级为可执行协议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00600" y="1463040"/>
            <a:ext cx="6720840" cy="4389120"/>
          </a:xfrm>
          <a:prstGeom prst="roundRect">
            <a:avLst/>
          </a:prstGeom>
          <a:solidFill>
            <a:srgbClr val="F6F8FC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27000"/>
          <a:lstStyle/>
          <a:p>
            <a:pPr algn="ctr"/>
            <a:r>
              <a:rPr b="1" sz="1800">
                <a:solidFill>
                  <a:srgbClr val="143F91"/>
                </a:solidFill>
              </a:rPr>
              <a:t>汇报正文</a:t>
            </a:r>
          </a:p>
          <a:p>
            <a:pPr algn="l">
              <a:defRPr sz="1500">
                <a:solidFill>
                  <a:srgbClr val="212529"/>
                </a:solidFill>
              </a:defRPr>
            </a:pPr>
            <a:r>
              <a:t>如果要把技术逻辑真正落地，文档必须按采购规范写法组织。仅给出参数名和目标值远远不够，还必须明确参数定义、测试条件、判定标准、抽样规则和失效处置路径。这样做的意义在于让供应商、测试方和采购方对同一指标形成一致理解，减少后续争议，使规范真正具备执行和验收能力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080760"/>
            <a:ext cx="8961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666"/>
                </a:solidFill>
              </a:rPr>
              <a:t>建议讲述顺序：先讲物理约束，再讲对应规范项，最后落到采购与验收。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</a:rPr>
              <a:t>9/13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926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43F91"/>
                </a:solidFill>
              </a:rPr>
              <a:t>计量与验收体系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70432"/>
            <a:ext cx="11064240" cy="54864"/>
          </a:xfrm>
          <a:prstGeom prst="rect">
            <a:avLst/>
          </a:prstGeom>
          <a:solidFill>
            <a:srgbClr val="2C7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3931920" cy="4389120"/>
          </a:xfrm>
          <a:prstGeom prst="roundRect">
            <a:avLst/>
          </a:prstGeom>
          <a:solidFill>
            <a:srgbClr val="E7EFFC"/>
          </a:solidFill>
          <a:ln>
            <a:solidFill>
              <a:srgbClr val="2C7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/>
          <a:lstStyle/>
          <a:p>
            <a:pPr algn="ctr"/>
            <a:r>
              <a:rPr b="1" sz="1800">
                <a:solidFill>
                  <a:srgbClr val="143F91"/>
                </a:solidFill>
              </a:rPr>
              <a:t>核心要点</a:t>
            </a:r>
          </a:p>
          <a:p>
            <a:pPr>
              <a:defRPr sz="1500">
                <a:solidFill>
                  <a:srgbClr val="212529"/>
                </a:solidFill>
              </a:defRPr>
            </a:pPr>
            <a:r>
              <a:t>常见方法：Fizeau、CGH、AFM、XRR、EUV反射率计、actinic inspection</a:t>
            </a:r>
          </a:p>
          <a:p>
            <a:pPr>
              <a:defRPr sz="1500">
                <a:solidFill>
                  <a:srgbClr val="212529"/>
                </a:solidFill>
              </a:defRPr>
            </a:pPr>
            <a:r>
              <a:t>关键指标应尽可能采用at-wavelength或可追溯代理计量</a:t>
            </a:r>
          </a:p>
          <a:p>
            <a:pPr>
              <a:defRPr sz="1500">
                <a:solidFill>
                  <a:srgbClr val="212529"/>
                </a:solidFill>
              </a:defRPr>
            </a:pPr>
            <a:r>
              <a:t>重点建立系统结果与单镜/膜层/环境指标的映射关系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00600" y="1463040"/>
            <a:ext cx="6720840" cy="4389120"/>
          </a:xfrm>
          <a:prstGeom prst="roundRect">
            <a:avLst/>
          </a:prstGeom>
          <a:solidFill>
            <a:srgbClr val="F6F8FC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27000"/>
          <a:lstStyle/>
          <a:p>
            <a:pPr algn="ctr"/>
            <a:r>
              <a:rPr b="1" sz="1800">
                <a:solidFill>
                  <a:srgbClr val="143F91"/>
                </a:solidFill>
              </a:rPr>
              <a:t>汇报正文</a:t>
            </a:r>
          </a:p>
          <a:p>
            <a:pPr algn="l">
              <a:defRPr sz="1500">
                <a:solidFill>
                  <a:srgbClr val="212529"/>
                </a:solidFill>
              </a:defRPr>
            </a:pPr>
            <a:r>
              <a:t>规范是否有效，最终取决于计量与验收体系能否支撑。EUV很多关键项目不能只依赖可见光代理测试，而应尽可能采用工作波长下的计量，或者建立可追溯的代理模型。更重要的是，系统指标必须能映射回单镜、膜层和环境侧原因，这样异常发生时才能迅速定位责任环节，而不是在系统与零件之间反复扯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080760"/>
            <a:ext cx="8961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666"/>
                </a:solidFill>
              </a:rPr>
              <a:t>建议讲述顺序：先讲物理约束，再讲对应规范项，最后落到采购与验收。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</a:rPr>
              <a:t>10/13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926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43F91"/>
                </a:solidFill>
              </a:rPr>
              <a:t>污染与寿命管理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70432"/>
            <a:ext cx="11064240" cy="54864"/>
          </a:xfrm>
          <a:prstGeom prst="rect">
            <a:avLst/>
          </a:prstGeom>
          <a:solidFill>
            <a:srgbClr val="2C7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3931920" cy="4389120"/>
          </a:xfrm>
          <a:prstGeom prst="roundRect">
            <a:avLst/>
          </a:prstGeom>
          <a:solidFill>
            <a:srgbClr val="E7EFFC"/>
          </a:solidFill>
          <a:ln>
            <a:solidFill>
              <a:srgbClr val="2C7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/>
          <a:lstStyle/>
          <a:p>
            <a:pPr algn="ctr"/>
            <a:r>
              <a:rPr b="1" sz="1800">
                <a:solidFill>
                  <a:srgbClr val="143F91"/>
                </a:solidFill>
              </a:rPr>
              <a:t>核心要点</a:t>
            </a:r>
          </a:p>
          <a:p>
            <a:pPr>
              <a:defRPr sz="1500">
                <a:solidFill>
                  <a:srgbClr val="212529"/>
                </a:solidFill>
              </a:defRPr>
            </a:pPr>
            <a:r>
              <a:t>重点对象：颗粒、碳污染、锡污染、材料出气</a:t>
            </a:r>
          </a:p>
          <a:p>
            <a:pPr>
              <a:defRPr sz="1500">
                <a:solidFill>
                  <a:srgbClr val="212529"/>
                </a:solidFill>
              </a:defRPr>
            </a:pPr>
            <a:r>
              <a:t>污染会同时吞噬反射率、放大散射并缩短寿命</a:t>
            </a:r>
          </a:p>
          <a:p>
            <a:pPr>
              <a:defRPr sz="1500">
                <a:solidFill>
                  <a:srgbClr val="212529"/>
                </a:solidFill>
              </a:defRPr>
            </a:pPr>
            <a:r>
              <a:t>应建立见证片、前后比对、增长速率和恢复策略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00600" y="1463040"/>
            <a:ext cx="6720840" cy="4389120"/>
          </a:xfrm>
          <a:prstGeom prst="roundRect">
            <a:avLst/>
          </a:prstGeom>
          <a:solidFill>
            <a:srgbClr val="F6F8FC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27000"/>
          <a:lstStyle/>
          <a:p>
            <a:pPr algn="ctr"/>
            <a:r>
              <a:rPr b="1" sz="1800">
                <a:solidFill>
                  <a:srgbClr val="143F91"/>
                </a:solidFill>
              </a:rPr>
              <a:t>汇报正文</a:t>
            </a:r>
          </a:p>
          <a:p>
            <a:pPr algn="l">
              <a:defRPr sz="1500">
                <a:solidFill>
                  <a:srgbClr val="212529"/>
                </a:solidFill>
              </a:defRPr>
            </a:pPr>
            <a:r>
              <a:t>在EUV系统中，污染控制不是维护补充项，而是规范本体的一部分。碳污染会压低反射率，锡污染会破坏表面和散射特性，颗粒会引入局部缺陷，而材料出气又可能成为持续污染源。因此规范中应同时规定洁净度、出气、见证片、反射率前后比对、增长速率限制以及必要时的清洗与恢复策略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080760"/>
            <a:ext cx="8961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666"/>
                </a:solidFill>
              </a:rPr>
              <a:t>建议讲述顺序：先讲物理约束，再讲对应规范项，最后落到采购与验收。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</a:rPr>
              <a:t>11/13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926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43F91"/>
                </a:solidFill>
              </a:rPr>
              <a:t>失效处置闭环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70432"/>
            <a:ext cx="11064240" cy="54864"/>
          </a:xfrm>
          <a:prstGeom prst="rect">
            <a:avLst/>
          </a:prstGeom>
          <a:solidFill>
            <a:srgbClr val="2C7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3931920" cy="4389120"/>
          </a:xfrm>
          <a:prstGeom prst="roundRect">
            <a:avLst/>
          </a:prstGeom>
          <a:solidFill>
            <a:srgbClr val="E7EFFC"/>
          </a:solidFill>
          <a:ln>
            <a:solidFill>
              <a:srgbClr val="2C7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/>
          <a:lstStyle/>
          <a:p>
            <a:pPr algn="ctr"/>
            <a:r>
              <a:rPr b="1" sz="1800">
                <a:solidFill>
                  <a:srgbClr val="143F91"/>
                </a:solidFill>
              </a:rPr>
              <a:t>核心要点</a:t>
            </a:r>
          </a:p>
          <a:p>
            <a:pPr>
              <a:defRPr sz="1500">
                <a:solidFill>
                  <a:srgbClr val="212529"/>
                </a:solidFill>
              </a:defRPr>
            </a:pPr>
            <a:r>
              <a:t>标准闭环：隔离—定位—返修/重工/判废—根因分析—规则更新</a:t>
            </a:r>
          </a:p>
          <a:p>
            <a:pPr>
              <a:defRPr sz="1500">
                <a:solidFill>
                  <a:srgbClr val="212529"/>
                </a:solidFill>
              </a:defRPr>
            </a:pPr>
            <a:r>
              <a:t>失效处置应与抽样规则、变更管理和8D联动</a:t>
            </a:r>
          </a:p>
          <a:p>
            <a:pPr>
              <a:defRPr sz="1500">
                <a:solidFill>
                  <a:srgbClr val="212529"/>
                </a:solidFill>
              </a:defRPr>
            </a:pPr>
            <a:r>
              <a:t>目标不是临时放行，而是防止同类问题重复发生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00600" y="1463040"/>
            <a:ext cx="6720840" cy="4389120"/>
          </a:xfrm>
          <a:prstGeom prst="roundRect">
            <a:avLst/>
          </a:prstGeom>
          <a:solidFill>
            <a:srgbClr val="F6F8FC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27000"/>
          <a:lstStyle/>
          <a:p>
            <a:pPr algn="ctr"/>
            <a:r>
              <a:rPr b="1" sz="1800">
                <a:solidFill>
                  <a:srgbClr val="143F91"/>
                </a:solidFill>
              </a:rPr>
              <a:t>汇报正文</a:t>
            </a:r>
          </a:p>
          <a:p>
            <a:pPr algn="l">
              <a:defRPr sz="1500">
                <a:solidFill>
                  <a:srgbClr val="212529"/>
                </a:solidFill>
              </a:defRPr>
            </a:pPr>
            <a:r>
              <a:t>成熟规范不能只定义“通过”，还必须预定义“不通过怎么办”。一旦发现异常，应先隔离批次与见证片，再定位问题属于基底、镀膜、污染、装调还是计量本身，然后决定返修、重工、清洗、降级使用或判废。同时应通过根因分析和8D闭环，把经验反写回抽样规则和工艺边界，避免重复失效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080760"/>
            <a:ext cx="8961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666"/>
                </a:solidFill>
              </a:rPr>
              <a:t>建议讲述顺序：先讲物理约束，再讲对应规范项，最后落到采购与验收。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</a:rPr>
              <a:t>12/13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926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43F91"/>
                </a:solidFill>
              </a:rPr>
              <a:t>结论与下一步建议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70432"/>
            <a:ext cx="11064240" cy="54864"/>
          </a:xfrm>
          <a:prstGeom prst="rect">
            <a:avLst/>
          </a:prstGeom>
          <a:solidFill>
            <a:srgbClr val="2C7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3931920" cy="4389120"/>
          </a:xfrm>
          <a:prstGeom prst="roundRect">
            <a:avLst/>
          </a:prstGeom>
          <a:solidFill>
            <a:srgbClr val="E7EFFC"/>
          </a:solidFill>
          <a:ln>
            <a:solidFill>
              <a:srgbClr val="2C7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/>
          <a:lstStyle/>
          <a:p>
            <a:pPr algn="ctr"/>
            <a:r>
              <a:rPr b="1" sz="1800">
                <a:solidFill>
                  <a:srgbClr val="143F91"/>
                </a:solidFill>
              </a:rPr>
              <a:t>核心要点</a:t>
            </a:r>
          </a:p>
          <a:p>
            <a:pPr>
              <a:defRPr sz="1500">
                <a:solidFill>
                  <a:srgbClr val="212529"/>
                </a:solidFill>
              </a:defRPr>
            </a:pPr>
            <a:r>
              <a:t>EUV光学规范本质上是由物理约束直接推导出的系统规范</a:t>
            </a:r>
          </a:p>
          <a:p>
            <a:pPr>
              <a:defRPr sz="1500">
                <a:solidFill>
                  <a:srgbClr val="212529"/>
                </a:solidFill>
              </a:defRPr>
            </a:pPr>
            <a:r>
              <a:t>核心主线：反射率、WFE、PSD、污染、High-NA</a:t>
            </a:r>
          </a:p>
          <a:p>
            <a:pPr>
              <a:defRPr sz="1500">
                <a:solidFill>
                  <a:srgbClr val="212529"/>
                </a:solidFill>
              </a:defRPr>
            </a:pPr>
            <a:r>
              <a:t>建议下一步拆分成系统、镜面、膜层、掩模四类正式规范文件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00600" y="1463040"/>
            <a:ext cx="6720840" cy="4389120"/>
          </a:xfrm>
          <a:prstGeom prst="roundRect">
            <a:avLst/>
          </a:prstGeom>
          <a:solidFill>
            <a:srgbClr val="F6F8FC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27000"/>
          <a:lstStyle/>
          <a:p>
            <a:pPr algn="ctr"/>
            <a:r>
              <a:rPr b="1" sz="1800">
                <a:solidFill>
                  <a:srgbClr val="143F91"/>
                </a:solidFill>
              </a:rPr>
              <a:t>汇报正文</a:t>
            </a:r>
          </a:p>
          <a:p>
            <a:pPr algn="l">
              <a:defRPr sz="1500">
                <a:solidFill>
                  <a:srgbClr val="212529"/>
                </a:solidFill>
              </a:defRPr>
            </a:pPr>
            <a:r>
              <a:t>总结来看，EUV光学规范之所以复杂，不是因为条目多，而是因为它由13.5纳米条件下的物理约束直接决定。反射率、波前误差、PSD、污染与High-NA彼此耦合，共同决定成像质量、通量、寿命与量产可行性。若后续需要真正用于项目执行，建议把当前材料继续拆分为系统级协议、单镜采购规范、多层膜验收规范和掩模光学规范四份正式文件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080760"/>
            <a:ext cx="8961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666"/>
                </a:solidFill>
              </a:rPr>
              <a:t>建议讲述顺序：先讲物理约束，再讲对应规范项，最后落到采购与验收。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</a:rPr>
              <a:t>13/13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