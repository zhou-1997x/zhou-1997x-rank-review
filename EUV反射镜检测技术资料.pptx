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2FF"/>
                </a:solidFill>
                <a:latin typeface="Microsoft YaHei"/>
              </a:defRPr>
            </a:pPr>
            <a:r>
              <a:t>EUV反射镜检测技术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EC8E3"/>
                </a:solidFill>
                <a:latin typeface="Microsoft YaHei"/>
              </a:defRPr>
            </a:pPr>
            <a:r>
              <a:t>检测仪器 · 检测参数 · 检测操作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Microsoft YaHei"/>
              </a:defRPr>
            </a:pPr>
            <a:r>
              <a:t>Extreme Ultraviolet Mirror Inspection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01    EUV反射镜概述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57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EC8E3"/>
                </a:solidFill>
                <a:latin typeface="Microsoft YaHei"/>
              </a:defRPr>
            </a:pPr>
            <a:r>
              <a:t>02    EUV反射镜检测的重要性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03    主要检测仪器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EC8E3"/>
                </a:solidFill>
                <a:latin typeface="Microsoft YaHei"/>
              </a:defRPr>
            </a:pPr>
            <a:r>
              <a:t>04    关键检测参数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05    检测操作流程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00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7EC8E3"/>
                </a:solidFill>
                <a:latin typeface="Microsoft YaHei"/>
              </a:defRPr>
            </a:pPr>
            <a:r>
              <a:t>06    检测标准与规范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07    前沿技术与发展趋势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01  EUV反射镜概述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什么是EUV反射镜？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Microsoft YaHei"/>
              </a:defRPr>
            </a:pPr>
            <a:r>
              <a:t>EUV（极紫外）反射镜是EUV光刻系统中的核心光学元件。</a:t>
            </a:r>
            <a:br/>
            <a:r>
              <a:t>EUV光刻使用波长为13.5nm的极紫外光，是当前最先进的</a:t>
            </a:r>
            <a:br/>
            <a:r>
              <a:t>半导体制造技术之一，用于7nm及以下先进制程芯片制造。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ASML EUV光刻机（NXE:3400 / EXE:5000系列）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EUV掩膜检测系统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同步辐射光束线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EUV天文望远镜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反射镜结构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基底：ULE玻璃或Zerodur微晶玻璃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多层膜：Mo/Si交替沉积，40-60个双层对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Mo层约2.8nm，Si层约4.1nm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双层周期约6.9nm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保护层：Ru（钌），厚度约2-3nm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理论反射率约74%，实际可达约70%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02  EUV反射镜检测的重要性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对光刻成像质量的影响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▸  面形误差直接影响光刻系统的波前像差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▸  表面缺陷会导致光刻图形的缺陷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▸  反射率均匀性影响曝光剂量均匀性</a:t>
            </a:r>
          </a:p>
          <a:p>
            <a:pPr>
              <a:spcAft>
                <a:spcPts val="600"/>
              </a:spcAft>
              <a:defRPr sz="1600">
                <a:solidFill>
                  <a:srgbClr val="E0E0E0"/>
                </a:solidFill>
                <a:latin typeface="Microsoft YaHei"/>
              </a:defRPr>
            </a:pPr>
            <a:r>
              <a:t>▸  散射光影响光刻对比度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检测精度要求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0624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检测项目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精度要求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重要性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面形精度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0.1nm RMS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表面粗糙度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0.1nm RMS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反射率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&gt; 67%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缺陷检测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&gt; 50nm缺陷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多层膜均匀性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0.02nm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03  检测仪器 — 面形检测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Fizeau干涉仪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原理：参考面与被测面反射光干涉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设备：Zygo VeriFire、4D PhaseCam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精度：面形精度可达λ/20 (~30nm PV)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特点：全口径测量，速度快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CGH辅助干涉测量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原理：CGH产生理想非球面波前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精度：面形精度可达0.3nm RMS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特点：适用于大偏离量非球面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应用：EUV投影物镜非球面检测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坐标测量机（CMM）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设备：Panasonic UA3P、Zeiss PRISMO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原理：触针式或光学探针逐点扫描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精度：面形精度可达50nm PV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特点：适用于自由曲面和非球面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长程轮廓仪（LTP）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原理：测量表面各点斜率重构面形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设备：ALS开发的各代LTP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精度：斜率精度可达0.1μrad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应用：同步辐射光学元件面形检测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03  检测仪器 — 表面粗糙度/微观形貌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原子力显微镜（AFM）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原理：探针与样品表面原子力相互作用成像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设备：Bruker Dimension Icon、Park NX20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分辨率：横向&lt;1nm，纵向&lt;0.1nm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扫描范围：1μm×1μm 至 100μm×100μm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特点：三维形貌测量，最高精度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局限：测量面积小，速度慢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白光干涉显微镜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原理：白光短相干长度垂直扫描干涉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设备：Zygo NewView、Bruker ContourGT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纵向分辨率：&lt;0.1nm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测量范围：视场可达数mm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特点：非接触测量，速度较快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应用：中频粗糙度（MSFR）检测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光散射测量仪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原理：通过测量表面散射光分布推算粗糙度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类型：TIS（总积分散射）、ARS（角分辨散射）、BRDF（双向反射分布函数）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设备：Schmitt Industries TMS系列 | 特点：快速大面积检测，非接触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03  检测仪器 — 反射率与缺陷检测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EUV反射率计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波长：13.5nm下直接测量反射率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光源：同步辐射或EUV等离子体光源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设施：PTB（德国）、LBNL ALS（美国）、NSRL（中国）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精度：反射率测量精度&lt;0.1%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参数：绝对反射率、均匀性、波长响应曲线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X射线反射率测量（XRR）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原理：掠入射X射线反射分析多层膜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设备：Bruker D8、Rigaku SmartLab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可测：膜层厚度、界面粗糙度、膜层密度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精度：厚度精度&lt;0.01nm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暗场缺陷检测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原理：利用缺陷散射光信号检测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设备：KLA Surfscan、Lasertec MAGICS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灵敏度：可检测&gt;20nm颗粒缺陷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特点：高速大面积扫描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光化学检测 &amp; 电子束检测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光化学：EUV波长下直接检测缺陷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设备：AIMS EUV、SHARP显微镜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电子束：SEM扫描成像，分辨率&lt;1nm</a:t>
            </a:r>
          </a:p>
          <a:p>
            <a:pPr>
              <a:spcAft>
                <a:spcPts val="600"/>
              </a:spcAft>
              <a:defRPr sz="1300">
                <a:solidFill>
                  <a:srgbClr val="E0E0E0"/>
                </a:solidFill>
                <a:latin typeface="Microsoft YaHei"/>
              </a:defRPr>
            </a:pPr>
            <a:r>
              <a:t>▸  特点：能发现实际光刻中会打印的缺陷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04  关键检测参数 — 面形与表面质量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面形参数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典型要求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测量方法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PV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面形最高点与最低点之差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2nm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干涉仪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RMS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面形偏差的均方根值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0.1nm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干涉仪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斜率误差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表面法线方向偏差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0.5μrad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LTP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功率谱密度PSD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面形误差的频域分析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符合规格曲线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干涉仪+AFM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表面质量参数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976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空间频率范围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典型要求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测量方法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HSFR（高频粗糙度）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&gt; 1μm⁻¹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0.10nm RMS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AFM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MSFR（中频粗糙度）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1mm⁻¹ ~ 1μm⁻¹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0.10nm RMS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白光干涉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LSFR（低频粗糙度）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1mm⁻¹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0.20nm RMS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干涉仪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全频段PSD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覆盖所有空间频率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满足PSD规格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综合测量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04  关键检测参数 — 光学性能与缺陷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光学性能参数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典型要求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测量方法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峰值反射率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13.5nm波长处的反射率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&gt; 67%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EUV反射率计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反射率均匀性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全口径反射率变化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0.2%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EUV反射率计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中心波长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反射率峰值对应波长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13.5±0.02nm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EUV反射率计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带宽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反射率半高全宽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~0.6nm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EUV反射率计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缺陷参数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2976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典型要求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测量方法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缺陷密度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单位面积的缺陷数量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&lt; 0.003个/cm²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暗场检测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最小可检测缺陷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可检测的最小缺陷尺寸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&gt; 50nm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暗场检测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相位缺陷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多层膜内部缺陷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零缺陷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光化学检测</a:t>
                      </a:r>
                    </a:p>
                  </a:txBody>
                  <a:tcPr>
                    <a:solidFill>
                      <a:srgbClr val="122A4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振幅缺陷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表面颗粒或凹坑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零缺陷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0E0E0"/>
                          </a:solidFill>
                          <a:latin typeface="Microsoft YaHei"/>
                        </a:defRPr>
                      </a:pPr>
                      <a:r>
                        <a:t>暗场/SEM</a:t>
                      </a:r>
                    </a:p>
                  </a:txBody>
                  <a:tcPr>
                    <a:solidFill>
                      <a:srgbClr val="1530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05  检测操作流程 — 检测前准备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环境准备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洁净室等级：ISO 5级或更高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温度：20±0.5°C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湿度：45±5%RH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振动隔离：&lt;0.5μm/s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仪器校准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标准样品校准干涉仪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AFM探针校准与更换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反射率计标准样品校准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记录校准数据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样品准备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CO₂雪花清洗/超声清洗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适当夹具固定样品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避免接触光学面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记录样品信息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05  检测操作流程 — 面形检测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① 将反射镜放置于干涉仪测试台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EC8E3"/>
                </a:solidFill>
                <a:latin typeface="Microsoft YaHei"/>
              </a:defRPr>
            </a:pPr>
            <a:r>
              <a:t>② 调整干涉仪对准（倾斜、离焦）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③ 获取干涉图（多帧取平均）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EC8E3"/>
                </a:solidFill>
                <a:latin typeface="Microsoft YaHei"/>
              </a:defRPr>
            </a:pPr>
            <a:r>
              <a:t>④ 相位提取（PSI或VSI算法）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⑤ 减去参考面误差（系统误差校准）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EC8E3"/>
                </a:solidFill>
                <a:latin typeface="Microsoft YaHei"/>
              </a:defRPr>
            </a:pPr>
            <a:r>
              <a:t>⑥ Zernike多项式拟合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⑦ 计算PV、RMS等面形参数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EC8E3"/>
                </a:solidFill>
                <a:latin typeface="Microsoft YaHei"/>
              </a:defRPr>
            </a:pPr>
            <a:r>
              <a:t>⑧ PSD分析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B74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⑨ 生成检测报告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05  检测操作流程 — 粗糙度与反射率检测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表面粗糙度检测流程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选择测量点位（5-9个点）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AFM测量：安装探针→设扫描参数→逐点扫描→计算HSFR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白光干涉：选物镜→聚焦→扫描干涉→计算MSFR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合成全频段PSD曲线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与规格对比，生成报告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反射率检测流程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安装样品到反射率计样品台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真空系统抽真空（&lt;10⁻⁴ Pa）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光源预热稳定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标准样品校准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设置测量参数（波长、入射角、步长）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多点位反射率测量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数据记录、分析、绘制分布图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缺陷检测流程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装载样品 → 设定扫描参数 → 全口径扫描 → 缺陷图生成 → 缺陷分类 → 复查确认 → 统计分析 → 标准对比判定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06  检测标准与规范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国际标准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ISO 10110-5：面形公差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ISO 10110-7：表面疵病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ISO 10110-8：表面粗糙度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ISO 14644：洁净室标准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SEMI P37：EUV掩膜基底规范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SEMI P38：EUV掩膜缺陷检测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74D"/>
                </a:solidFill>
                <a:latin typeface="Microsoft YaHei"/>
              </a:defRPr>
            </a:pPr>
            <a:r>
              <a:t>行业规范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ASML光学元件内部规范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Zeiss光学质量标准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ITRS/IRDS半导体技术路线图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各光学制造商企业标准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Microsoft YaHei"/>
              </a:defRPr>
            </a:pPr>
            <a:r>
              <a:t>07  前沿技术与发展趋势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High-NA EUV的检测挑战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数值孔径从0.33提升至0.55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面形精度要求更高（&lt;0.05nm RMS）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需要更大口径检测设备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自由曲面面形检测需求增加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检测技术发展方向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在位检测：光刻机内实时波前检测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自适应光学校正技术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机器学习辅助缺陷分类与面形预测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Microsoft YaHei"/>
              </a:defRPr>
            </a:pPr>
            <a:r>
              <a:t>▸  多模态融合检测与大数据分析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4D"/>
                </a:solidFill>
                <a:latin typeface="Microsoft YaHei"/>
              </a:defRPr>
            </a:pPr>
            <a:r>
              <a:t>国内发展现状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中科院长春光机所：EUV光学元件研制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中国科大国家同步辐射实验室：EUV反射率标定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清华大学：EUV光源与光学技术研究</a:t>
            </a:r>
          </a:p>
          <a:p>
            <a:pPr>
              <a:spcAft>
                <a:spcPts val="600"/>
              </a:spcAft>
              <a:defRPr sz="1500">
                <a:solidFill>
                  <a:srgbClr val="E0E0E0"/>
                </a:solidFill>
                <a:latin typeface="Microsoft YaHei"/>
              </a:defRPr>
            </a:pPr>
            <a:r>
              <a:t>▸  相关企业：国望光学、奥普光电等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EC8E3"/>
                </a:solidFill>
                <a:latin typeface="Microsoft YaHe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